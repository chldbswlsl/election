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노희래입니다. 오늘 제가 발표할 주제는 2026년 6월 3일 서울시장 선거 당선 예측입니다. PDF 강의자료에서 배운 추론 통계 개념을 실제 여론조사 데이터에 적용해, 본인 나름대로 결과를 예측해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결론부터 말씀드리면, 분석 결과 정원오 후보의 당선이 99% 신뢰수준에서 통계적으로 유의하게 예측됩니다. p-value 가 3.73 곱하기 10의 마이너스 12승 으로 사실상 0에 가깝습니다. 이게 어떻게 나온 결과인지 지금부터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과제에서 풀어야 할 핵심 질문은 두 가지였습니다. 첫째, 여론조사 한 건만으로 모집단 전체의 진짜 지지율을 단정할 수 있는가. 정답은 못 합니다. 둘째, 여러 조사를 합치면 더 정확해지는가. 정답은 가능합니다. 중심극한정리 덕분이죠. 이 두 원리를 그대로 파이썬 코드로 구현해서 서울시장 여론조사 5건을 분석했습니다.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통계 개념은 모비율 신뢰구간입니다. PDF p44에 나온 공식 그대로입니다. 1.96 이라는 숫자는 표준정규분포에서 양쪽 꼬리 5%를 자를 때의 임계값입니다. PDF p9에서 '신뢰란 욕먹지 않을 만큼'이라고 표현한 게 인상 깊었는데요, 100번 조사하면 95번은 이 구간 안에 모집단의 진짜 비율이 있을 것이라는 의미입니다. 5월 2일 SBS 조사로 손계산해 보니 코드 출력값과 정확히 일치했습니다.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가설검정입니다. 두 후보 지지율이 통계적으로 정말 다른지 검증합니다. 귀무가설은 두 후보가 동률이라는 것이고, 대립가설은 정원오가 우세하다는 것입니다. 단측 검정으로 진행했고, 검정통계량 Z 를 계산해 정규분포 위에서 p-value 를 구합니다. 본 분석에서 나온 p-value 가 사실상 0 이라는 건 '동률이라는 가정 하에 이런 차이가 우연히 나올 확률이 거의 0' 이라는 의미입니다.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사용한 데이터입니다. 작년 12월부터 5월까지 5건의 서울시장 여론조사를 모았습니다. MBC, SBS 같은 메이저 방송사 의뢰 4건과, 보수성향 매체인 펜앤마이크 의뢰 1건 입니다. 통합 표본 수는 4,200명 입니다. 각 조사에서 정원오 후보가 시간이 갈수록 우세를 굳히는 추세를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차트는 시계열 추세입니다. 파란 선이 정원오, 빨간 선이 오세훈 후보입니다. 주변의 옅은 색 밴드가 95% 신뢰구간이고요. 12월에는 두 후보의 신뢰구간이 겹쳐서 PDF p45에서 본 Case B 박빙 상황이었지만, 4월 말부터는 두 밴드가 완전히 분리되어 Case A 우세 확정으로 전환됩니다.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차트입니다. 각 조사를 한 행씩 보여주는 Forest Plot 입니다. 각 후보의 지지율을 점으로, 95% 신뢰구간을 가로 바로 표시했습니다. 두 바가 겹치는지 분리되는지가 핵심인데요, 4월 28일 MBC 조사부터 명확히 분리됩니다. 오른쪽 초록색으로 '오차범위 밖' 이라고 표시된 것이 통계적 우세를 의미합니다.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차트는 PDF p28의 중심극한정리를 시각적으로 보여줍니다. 왼쪽은 단일 조사 800명 표본일 때, 오른쪽은 5건 합쳐 4,200명 효과 표본일 때입니다. 표본을 5.25배 늘리면 분포 폭이 √5.25 = 2.29배 좁아져, 두 후보 분포의 겹침이 거의 사라집니다. 이게 여러 조사를 합쳐 분석하는 게 의미 있는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차트입니다. 표준정규분포 위에서 관측 Z 값의 위치를 보여줍니다. Z 가 +6.85로, 95% 신뢰수준 임계값 1.96과 99% 신뢰수준 임계값 2.58 모두 한참 넘어섰습니다. 빨간 꼬리 면적이 p-value 인데, 사실상 0에 가깝습니다. 결론적으로 H₀, 즉 '두 후보 동률' 가설을 99% 신뢰수준에서도 강하게 기각할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한계도 솔직하게 말씀드리겠습니다. 양자대결 가정과 비응답 편향, 시간 가중치 미적용 같은 이슈가 있습니다. 특히 가장 큰 변수는 부동층 결집입니다. 약 22% 의 부동층이 막판에 어느 쪽으로 흘러가느냐에 따라 결과가 흔들릴 수 있습니다. 비관 시나리오에서는 9%p 격차가 0.4%p 박빙까지 좁혀질 수 있습니다. p-value 가 작다고 결과가 '확정'된 건 아니라는 점, 그리고 모집단의 마음이 6월 3일까지 안 변한다는 보장이 없다는 점을 인정합니다.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마지막입니다. 6월 3일 개표 결과가 나오면 다음 항목으로 본 모형을 검증할 계획입니다. 정원오와 오세훈 두 후보의 실제 득표율이 각각 95% 신뢰구간 안에 들어왔는지, 그리고 1위가 적중인지가 핵심입니다. 만약 빗나간다면 한계 슬라이드의 어느 항목이 결정적이었는지가 후속 학습 주제입니다. 분석에 사용한 코드와 인터랙티브 사이트도 깃허브에 공개해 두었습니다. 감사합니다. 질문 있으시면 답변드리겠습니다.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52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B"/>
                </a:solidFill>
                <a:latin typeface="맑은 고딕"/>
                <a:ea typeface="맑은 고딕"/>
              </a:rPr>
              <a:t>2026 서울시장 선거 당선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맑은 고딕"/>
                <a:ea typeface="맑은 고딕"/>
              </a:rPr>
              <a:t>여론조사 데이터의 통계적 추론 — 도제 과제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1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  <a:ea typeface="맑은 고딕"/>
              </a:rPr>
              <a:t>노희래 · 2026년 05월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한 줄 결론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19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7DD7"/>
                </a:solidFill>
                <a:latin typeface="맑은 고딕"/>
                <a:ea typeface="맑은 고딕"/>
              </a:rPr>
              <a:t>정원오 당선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2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맑은 고딕"/>
                <a:ea typeface="맑은 고딕"/>
              </a:rPr>
              <a:t>99% 신뢰수준에서 통계적으로 유의 (p-value = 3.73 × 10⁻¹²)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1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F3A6B"/>
                </a:solidFill>
                <a:latin typeface="맑은 고딕"/>
                <a:ea typeface="맑은 고딕"/>
              </a:rPr>
              <a:t>예상 득표율   정원오 ≈ 42.8%   vs   오세훈 ≈ 33.6%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1. 과제 목표 — 두 가지 핵심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144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단일 여론조사로 '몇 % 지지'라고 단정할 수 있는가?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  → 못한다. 표본 비율 p̂ 주변에 '신뢰구간' 만 존재 (PDF p44)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여러 조사를 합치면 더 좁은 추정이 가능한가?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  → 가능하다. 중심극한정리에 의해 σ → σ/√n (PDF p28)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800" b="0">
                <a:latin typeface="맑은 고딕"/>
                <a:ea typeface="맑은 고딕"/>
              </a:rPr>
              <a:t>• 이 두 가지 원리를 코드(analyze.py)로 옮겨, 서울시장 5건 여론조사를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2. 통계 개념 ① — 모비율 신뢰구간 (PDF p44)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144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3A6B"/>
                </a:solidFill>
                <a:latin typeface="맑은 고딕"/>
                <a:ea typeface="맑은 고딕"/>
              </a:rPr>
              <a:t>p̂ ± 1.96 · √(p̂(1-p̂)/n)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8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왜 1.96 인가? 표준정규분포 양쪽 꼬리 합 5%를 자르는 임계값 (PDF p15)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PDF p9: '신뢰는 욕먹지 않을 만큼' — 95% = 100번 중 95번 맞을 표기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5/2 SBS 손계산: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SE = √(0.41 × 0.59 / 800) = 0.01740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MoE = 1.96 × 0.01740 = 3.41%p  ← 언론사 발표 ±3.5%p 와 일치 ✓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CI(정원오) = [37.6%, 44.4%]  ← analyze.py 출력과 동일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3. 통계 개념 ② — 가설검정과 p-value (PDF p59)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1440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A6B"/>
                </a:solidFill>
                <a:latin typeface="맑은 고딕"/>
                <a:ea typeface="맑은 고딕"/>
              </a:rPr>
              <a:t>Z = (p̂_정 - p̂_오) / SE_Δ      p-value = 1 - Φ(Z)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8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H₀: 두 후보 동률   vs   H₁: 정원오 &gt; 오세훈 (단측 검정)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두 후보 차이의 분산(다항분포): Var = (p_A + p_B - (p_A - p_B)²) / n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p-value 의 의미 (PDF p60):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• 1종 오류가 일어날 확률 — 차이 없는데 있다고 잘못 발표할 위험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• 작을수록 H₀ 기각 근거 강함 (보통 0.05 미만이면 유의)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본 분석 결과: p-value ≈ 3.73 × 10⁻¹² → 사실상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4. 분석 데이터 — 서울시장 5건 여론조사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440000"/>
          <a:ext cx="1044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800000"/>
                <a:gridCol w="1440000"/>
                <a:gridCol w="2160000"/>
                <a:gridCol w="2160000"/>
              </a:tblGrid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조사일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의뢰처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조사기관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정원오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오세훈</a:t>
                      </a:r>
                    </a:p>
                  </a:txBody>
                  <a:tcPr>
                    <a:solidFill>
                      <a:srgbClr val="1F3A6B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2025-12-15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MBC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코리아리서치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36.0%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2026-02-10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MBC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코리아리서치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36.0%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2026-04-20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펜앤마이크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여론조사공정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30.9%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2026-04-28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MBC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코리아리서치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32.0%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2026-05-02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입소스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맑은 고딕"/>
                          <a:ea typeface="맑은 고딕"/>
                        </a:rPr>
                        <a:t>34.0%</a:t>
                      </a:r>
                    </a:p>
                  </a:txBody>
                  <a:tcPr/>
                </a:tc>
              </a:tr>
              <a:tr h="5657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통합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4,200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42.83%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맑은 고딕"/>
                          <a:ea typeface="맑은 고딕"/>
                        </a:rPr>
                        <a:t>33.64%</a:t>
                      </a:r>
                    </a:p>
                  </a:txBody>
                  <a:tcPr>
                    <a:solidFill>
                      <a:srgbClr val="E7EE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00" y="57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  <a:ea typeface="맑은 고딕"/>
              </a:rPr>
              <a:t>출처: 코리아리서치, 입소스, 여론조사공정 등 (중앙선거여론조사심의위 등록)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5. 분석 결과 ① — 지지율 추세 + 95% 신뢰구간 밴드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60000"/>
            <a:ext cx="10440000" cy="57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60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  <a:ea typeface="맑은 고딕"/>
              </a:rPr>
              <a:t>12월 시점 박빙(Case B) → 4월 말부터 정원오 우세 확정(Case A)로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6. 분석 결과 ② — 조사별 신뢰구간 비교 (Forest Plot)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i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60000"/>
            <a:ext cx="10440000" cy="569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60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  <a:ea typeface="맑은 고딕"/>
              </a:rPr>
              <a:t>겹치면 박빙(Case B), 분리되면 우세 확정(Case A) — PDF p45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7. 분석 결과 ③ — 합치면 좁아진다 (중심극한정리)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l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60000"/>
            <a:ext cx="10440000" cy="4323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60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  <a:ea typeface="맑은 고딕"/>
              </a:rPr>
              <a:t>단일 조사 MoE ±3.41%p → 5건 합산 ±1.50%p (2.29배 좁아짐 = √5.25)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8. 분석 결과 ④ — 가설검정 시각화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60000"/>
            <a:ext cx="10440000" cy="52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60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  <a:ea typeface="맑은 고딕"/>
              </a:rPr>
              <a:t>관측 Z=+6.85 → 임계값 1.96, 2.58 모두 한참 초과 → 99% 신뢰수준 H₀ 기각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9. 한계와 주의사항 — 솔직한 자기 평가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양자대결 가정 — 후보 등록 후 다자 구도 가능 (조국혁신당, 무소속 등)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비응답 편향 — 응답률 10~12%, 무응답자가 응답자와 다를 가능성 (PDF p4)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시간 가중치 미적용 — 12월 조사와 5월 조사를 동등 가중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House Effect 미보정 — 의뢰처별 편향 무시 (펜앤마이크 등)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★ 가장 큰 변수: 부동층 결집 (PDF p60 2종 오류)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부동층 약 22%가 막판에 어느 쪽으로 결집하느냐가 결과를 흔들 수 있음</a:t>
            </a:r>
          </a:p>
          <a:p>
            <a:pPr algn="l">
              <a:spcAft>
                <a:spcPts val="800"/>
              </a:spcAft>
            </a:pPr>
            <a:r>
              <a:rPr sz="1500" b="0">
                <a:latin typeface="맑은 고딕"/>
                <a:ea typeface="맑은 고딕"/>
              </a:rPr>
              <a:t>•   비관 시나리오 (부동층 7:3 → 오세훈) 시 격차 9.19%p → 0.4%p 로 박빙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B"/>
                </a:solidFill>
                <a:latin typeface="맑은 고딕"/>
                <a:ea typeface="맑은 고딕"/>
              </a:rPr>
              <a:t>10. 6/3 이후 자체 검증 +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864000"/>
            <a:ext cx="10908000" cy="0"/>
          </a:xfrm>
          <a:prstGeom prst="line">
            <a:avLst/>
          </a:prstGeom>
          <a:ln w="2540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14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B"/>
                </a:solidFill>
                <a:latin typeface="맑은 고딕"/>
                <a:ea typeface="맑은 고딕"/>
              </a:rPr>
              <a:t>검증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980000"/>
            <a:ext cx="100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latin typeface="맑은 고딕"/>
                <a:ea typeface="맑은 고딕"/>
              </a:rPr>
              <a:t>• 정원오 실제 득표율이 95% CI [41.3%, 44.3%] 안에 들어왔는가?</a:t>
            </a:r>
          </a:p>
          <a:p>
            <a:pPr algn="l">
              <a:spcAft>
                <a:spcPts val="800"/>
              </a:spcAft>
            </a:pPr>
            <a:r>
              <a:rPr sz="1600" b="0">
                <a:latin typeface="맑은 고딕"/>
                <a:ea typeface="맑은 고딕"/>
              </a:rPr>
              <a:t>• 오세훈 실제 득표율이 95% CI [32.2%, 35.1%] 안에 들어왔는가?</a:t>
            </a:r>
          </a:p>
          <a:p>
            <a:pPr algn="l">
              <a:spcAft>
                <a:spcPts val="800"/>
              </a:spcAft>
            </a:pPr>
            <a:r>
              <a:rPr sz="1600" b="0">
                <a:latin typeface="맑은 고딕"/>
                <a:ea typeface="맑은 고딕"/>
              </a:rPr>
              <a:t>• 1위 적중인가? — 가장 큰 검증</a:t>
            </a:r>
          </a:p>
          <a:p>
            <a:pPr algn="l">
              <a:spcAft>
                <a:spcPts val="800"/>
              </a:spcAft>
            </a:pPr>
            <a:r>
              <a:rPr sz="1600" b="0">
                <a:latin typeface="맑은 고딕"/>
                <a:ea typeface="맑은 고딕"/>
              </a:rPr>
              <a:t>• 빗나갔다면: 부동층 결집? 비응답 편향? 의뢰처 편향?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B"/>
                </a:solidFill>
                <a:latin typeface="맑은 고딕"/>
                <a:ea typeface="맑은 고딕"/>
              </a:rPr>
              <a:t>라이브 사이트 + 코드 저장소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86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latin typeface="맑은 고딕"/>
                <a:ea typeface="맑은 고딕"/>
              </a:rPr>
              <a:t>• 사이트: https://chldbswlsl.github.io/election/</a:t>
            </a:r>
          </a:p>
          <a:p>
            <a:pPr algn="l">
              <a:spcAft>
                <a:spcPts val="800"/>
              </a:spcAft>
            </a:pPr>
            <a:r>
              <a:rPr sz="1400" b="0">
                <a:latin typeface="맑은 고딕"/>
                <a:ea typeface="맑은 고딕"/>
              </a:rPr>
              <a:t>• 코드:    https://github.com/chldbswlsl/election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